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103120"/>
            <a:ext cx="6400800" cy="6400800"/>
          </a:xfrm>
          <a:prstGeom prst="ellipse">
            <a:avLst/>
          </a:prstGeom>
          <a:solidFill>
            <a:srgbClr val="EDE3CE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784080" y="3383280"/>
            <a:ext cx="4572000" cy="4572000"/>
          </a:xfrm>
          <a:prstGeom prst="ellipse">
            <a:avLst/>
          </a:prstGeom>
          <a:solidFill>
            <a:srgbClr val="F5EFE1">
              <a:alpha val="8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02920" y="5074920"/>
            <a:ext cx="91440" cy="91440"/>
          </a:xfrm>
          <a:prstGeom prst="ellipse">
            <a:avLst/>
          </a:prstGeom>
          <a:solidFill>
            <a:srgbClr val="E8A33D">
              <a:alpha val="8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813816" y="4764024"/>
            <a:ext cx="118872" cy="118872"/>
          </a:xfrm>
          <a:prstGeom prst="ellipse">
            <a:avLst/>
          </a:prstGeom>
          <a:solidFill>
            <a:srgbClr val="E8A33D">
              <a:alpha val="73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24712" y="4453128"/>
            <a:ext cx="146304" cy="146304"/>
          </a:xfrm>
          <a:prstGeom prst="ellipse">
            <a:avLst/>
          </a:prstGeom>
          <a:solidFill>
            <a:srgbClr val="E8A33D">
              <a:alpha val="61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435608" y="4142232"/>
            <a:ext cx="173736" cy="173736"/>
          </a:xfrm>
          <a:prstGeom prst="ellipse">
            <a:avLst/>
          </a:prstGeom>
          <a:solidFill>
            <a:srgbClr val="E8A33D">
              <a:alpha val="49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746504" y="3831336"/>
            <a:ext cx="201168" cy="201168"/>
          </a:xfrm>
          <a:prstGeom prst="ellipse">
            <a:avLst/>
          </a:prstGeom>
          <a:solidFill>
            <a:srgbClr val="E8A33D">
              <a:alpha val="37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960120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 site vitrine pour le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sommet technologique africain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566928" y="4343400"/>
            <a:ext cx="1280160" cy="45720"/>
          </a:xfrm>
          <a:prstGeom prst="rect">
            <a:avLst/>
          </a:prstGeom>
          <a:solidFill>
            <a:srgbClr val="C4432B"/>
          </a:solidFill>
        </p:spPr>
      </p:sp>
      <p:sp>
        <p:nvSpPr>
          <p:cNvPr id="12" name="Text 10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Projet de développement Web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14" name="Image 0" descr="assets/user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5770961"/>
            <a:ext cx="272125" cy="2721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5650992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Maureen Zoungrana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DSBD ISI • Année universitaire 2025–2026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 que nous allons voir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5" name="Text 3"/>
          <p:cNvSpPr/>
          <p:nvPr/>
        </p:nvSpPr>
        <p:spPr>
          <a:xfrm>
            <a:off x="749808" y="180136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du projet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8" name="Text 6"/>
          <p:cNvSpPr/>
          <p:nvPr/>
        </p:nvSpPr>
        <p:spPr>
          <a:xfrm>
            <a:off x="4526280" y="180136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Choix de design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11" name="Text 9"/>
          <p:cNvSpPr/>
          <p:nvPr/>
        </p:nvSpPr>
        <p:spPr>
          <a:xfrm>
            <a:off x="8302752" y="180136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02752" y="219456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du site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14" name="Text 12"/>
          <p:cNvSpPr/>
          <p:nvPr/>
        </p:nvSpPr>
        <p:spPr>
          <a:xfrm>
            <a:off x="749808" y="29900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" y="33832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Points techniques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25112" y="288036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17" name="Text 15"/>
          <p:cNvSpPr/>
          <p:nvPr/>
        </p:nvSpPr>
        <p:spPr>
          <a:xfrm>
            <a:off x="4526280" y="29900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01584" y="288036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20" name="Text 18"/>
          <p:cNvSpPr/>
          <p:nvPr/>
        </p:nvSpPr>
        <p:spPr>
          <a:xfrm>
            <a:off x="8302752" y="299008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02752" y="338328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Difficultés rencontrées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23" name="Text 21"/>
          <p:cNvSpPr/>
          <p:nvPr/>
        </p:nvSpPr>
        <p:spPr>
          <a:xfrm>
            <a:off x="749808" y="41788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4572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Ressources utilisées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25112" y="406908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26" name="Text 24"/>
          <p:cNvSpPr/>
          <p:nvPr/>
        </p:nvSpPr>
        <p:spPr>
          <a:xfrm>
            <a:off x="4526280" y="41788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Démonstration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01584" y="4069080"/>
            <a:ext cx="3520440" cy="932688"/>
          </a:xfrm>
          <a:prstGeom prst="roundRect">
            <a:avLst>
              <a:gd name="adj" fmla="val 8824"/>
            </a:avLst>
          </a:prstGeom>
          <a:solidFill>
            <a:srgbClr val="EDE3CE"/>
          </a:solidFill>
        </p:spPr>
      </p:sp>
      <p:sp>
        <p:nvSpPr>
          <p:cNvPr id="29" name="Text 27"/>
          <p:cNvSpPr/>
          <p:nvPr/>
        </p:nvSpPr>
        <p:spPr>
          <a:xfrm>
            <a:off x="8302752" y="41788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02752" y="45720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— PRÉSENTATION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 sommet tech, raconté en ligne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</a:t>
            </a:r>
            <a:r>
              <a:rPr lang="en-US" sz="14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 un site web vitrine présentant un sommet technologique africain. Il permet de présenter l’événement, afficher le programme, présenter les intervenants et permettre l’inscription des participants.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EDE3CE"/>
          </a:solidFill>
        </p:spPr>
      </p:sp>
      <p:sp>
        <p:nvSpPr>
          <p:cNvPr id="6" name="Shape 4"/>
          <p:cNvSpPr/>
          <p:nvPr/>
        </p:nvSpPr>
        <p:spPr>
          <a:xfrm>
            <a:off x="868680" y="2880360"/>
            <a:ext cx="548640" cy="5486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assets/target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30230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91693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Objectif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96112" y="3730752"/>
            <a:ext cx="109728" cy="109728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0" name="Text 7"/>
          <p:cNvSpPr/>
          <p:nvPr/>
        </p:nvSpPr>
        <p:spPr>
          <a:xfrm>
            <a:off x="1188720" y="360273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96112" y="4297680"/>
            <a:ext cx="109728" cy="109728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2" name="Text 9"/>
          <p:cNvSpPr/>
          <p:nvPr/>
        </p:nvSpPr>
        <p:spPr>
          <a:xfrm>
            <a:off x="1188720" y="416966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96112" y="4864608"/>
            <a:ext cx="109728" cy="109728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4" name="Text 11"/>
          <p:cNvSpPr/>
          <p:nvPr/>
        </p:nvSpPr>
        <p:spPr>
          <a:xfrm>
            <a:off x="1188720" y="47365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Ergonomique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96112" y="5431536"/>
            <a:ext cx="109728" cy="109728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6" name="Text 13"/>
          <p:cNvSpPr/>
          <p:nvPr/>
        </p:nvSpPr>
        <p:spPr>
          <a:xfrm>
            <a:off x="1188720" y="53035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Interactif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080760" y="2514600"/>
            <a:ext cx="5559552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880360"/>
            <a:ext cx="548640" cy="548640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19" name="Image 1" descr="assets/peopl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302300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291693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Public cible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400800" y="374904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EDE3CE"/>
          </a:solidFill>
        </p:spPr>
      </p:sp>
      <p:sp>
        <p:nvSpPr>
          <p:cNvPr id="22" name="Text 18"/>
          <p:cNvSpPr/>
          <p:nvPr/>
        </p:nvSpPr>
        <p:spPr>
          <a:xfrm>
            <a:off x="6400800" y="37490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Étudiants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915400" y="374904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EDE3CE"/>
          </a:solidFill>
        </p:spPr>
      </p:sp>
      <p:sp>
        <p:nvSpPr>
          <p:cNvPr id="24" name="Text 20"/>
          <p:cNvSpPr/>
          <p:nvPr/>
        </p:nvSpPr>
        <p:spPr>
          <a:xfrm>
            <a:off x="8915400" y="37490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Développeurs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00800" y="4407408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EDE3CE"/>
          </a:solidFill>
        </p:spPr>
      </p:sp>
      <p:sp>
        <p:nvSpPr>
          <p:cNvPr id="26" name="Text 22"/>
          <p:cNvSpPr/>
          <p:nvPr/>
        </p:nvSpPr>
        <p:spPr>
          <a:xfrm>
            <a:off x="6400800" y="440740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Entreprises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8915400" y="4407408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EDE3CE"/>
          </a:solidFill>
        </p:spPr>
      </p:sp>
      <p:sp>
        <p:nvSpPr>
          <p:cNvPr id="28" name="Text 24"/>
          <p:cNvSpPr/>
          <p:nvPr/>
        </p:nvSpPr>
        <p:spPr>
          <a:xfrm>
            <a:off x="8915400" y="440740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Startups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00800" y="5065776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EDE3CE"/>
          </a:solidFill>
        </p:spPr>
      </p:sp>
      <p:sp>
        <p:nvSpPr>
          <p:cNvPr id="30" name="Text 26"/>
          <p:cNvSpPr/>
          <p:nvPr/>
        </p:nvSpPr>
        <p:spPr>
          <a:xfrm>
            <a:off x="6400800" y="506577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Professionnels du numérique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5669280" y="4256532"/>
            <a:ext cx="82296" cy="82296"/>
          </a:xfrm>
          <a:prstGeom prst="ellipse">
            <a:avLst/>
          </a:prstGeom>
          <a:solidFill>
            <a:srgbClr val="C4432B">
              <a:alpha val="85000"/>
            </a:srgbClr>
          </a:solidFill>
        </p:spPr>
      </p:sp>
      <p:sp>
        <p:nvSpPr>
          <p:cNvPr id="32" name="Shape 28"/>
          <p:cNvSpPr/>
          <p:nvPr/>
        </p:nvSpPr>
        <p:spPr>
          <a:xfrm>
            <a:off x="5961888" y="4238244"/>
            <a:ext cx="118872" cy="118872"/>
          </a:xfrm>
          <a:prstGeom prst="ellipse">
            <a:avLst/>
          </a:prstGeom>
          <a:solidFill>
            <a:srgbClr val="C4432B">
              <a:alpha val="70000"/>
            </a:srgbClr>
          </a:solidFill>
        </p:spPr>
      </p:sp>
      <p:sp>
        <p:nvSpPr>
          <p:cNvPr id="33" name="Shape 29"/>
          <p:cNvSpPr/>
          <p:nvPr/>
        </p:nvSpPr>
        <p:spPr>
          <a:xfrm>
            <a:off x="6254496" y="4215384"/>
            <a:ext cx="164592" cy="164592"/>
          </a:xfrm>
          <a:prstGeom prst="ellipse">
            <a:avLst/>
          </a:prstGeom>
          <a:solidFill>
            <a:srgbClr val="C4432B">
              <a:alpha val="55000"/>
            </a:srgbClr>
          </a:solidFill>
        </p:spPr>
      </p:sp>
      <p:sp>
        <p:nvSpPr>
          <p:cNvPr id="34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CHOIX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palette de couleurs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 identité professionnelle, élégante et moderne, inspirée de la technologie.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8A33D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93776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#E8A33D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525780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Orange vif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C4432B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493776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#C4432B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80944" y="525780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Rouge tomate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84064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EDE3CE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493776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#EDE3CE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48656" y="525780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Beige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51776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493776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#FFFFFF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16368" y="525780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Blanc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19488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0E0E0E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493776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#0E0E0E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0" y="5257800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CHOIX DE DESIGN (SUITE)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Typographie &amp; inspirations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EDE3CE"/>
          </a:solidFill>
        </p:spPr>
      </p:sp>
      <p:sp>
        <p:nvSpPr>
          <p:cNvPr id="5" name="Shape 3"/>
          <p:cNvSpPr/>
          <p:nvPr/>
        </p:nvSpPr>
        <p:spPr>
          <a:xfrm>
            <a:off x="868680" y="1965960"/>
            <a:ext cx="530352" cy="530352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6" name="Image 0" descr="assets/font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210385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Polices utilisées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74320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1097280" y="283464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Poppins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316382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Titres — moderne, lisible, fort impact visuel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37947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1097280" y="38862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Roboto Slab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421538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Titres secondaires — excellente lisibilité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48463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</p:spPr>
      </p:sp>
      <p:sp>
        <p:nvSpPr>
          <p:cNvPr id="15" name="Text 12"/>
          <p:cNvSpPr/>
          <p:nvPr/>
        </p:nvSpPr>
        <p:spPr>
          <a:xfrm>
            <a:off x="1097280" y="49377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Playfair Display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526694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Texte — adapté aux interfaces web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1691640"/>
            <a:ext cx="5376672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1965960"/>
            <a:ext cx="530352" cy="530352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19" name="Image 1" descr="assets/bul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572" y="2103852"/>
            <a:ext cx="254569" cy="25456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199339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Inspirations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629400" y="283464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2" name="Text 18"/>
          <p:cNvSpPr/>
          <p:nvPr/>
        </p:nvSpPr>
        <p:spPr>
          <a:xfrm>
            <a:off x="6903720" y="26974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Conférences technologiques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629400" y="3456432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4" name="Text 20"/>
          <p:cNvSpPr/>
          <p:nvPr/>
        </p:nvSpPr>
        <p:spPr>
          <a:xfrm>
            <a:off x="6903720" y="331927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Bento Design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6629400" y="4078224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6" name="Text 22"/>
          <p:cNvSpPr/>
          <p:nvPr/>
        </p:nvSpPr>
        <p:spPr>
          <a:xfrm>
            <a:off x="6903720" y="394106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6629400" y="4700016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8" name="Text 24"/>
          <p:cNvSpPr/>
          <p:nvPr/>
        </p:nvSpPr>
        <p:spPr>
          <a:xfrm>
            <a:off x="6903720" y="456285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Webflow</a:t>
            </a:r>
            <a:endParaRPr lang="en-US" sz="1450" dirty="0"/>
          </a:p>
        </p:txBody>
      </p:sp>
      <p:sp>
        <p:nvSpPr>
          <p:cNvPr id="29" name="Shape 25"/>
          <p:cNvSpPr/>
          <p:nvPr/>
        </p:nvSpPr>
        <p:spPr>
          <a:xfrm>
            <a:off x="6629400" y="5321808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30" name="Text 26"/>
          <p:cNvSpPr/>
          <p:nvPr/>
        </p:nvSpPr>
        <p:spPr>
          <a:xfrm>
            <a:off x="6903720" y="518464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Événements IA</a:t>
            </a:r>
            <a:endParaRPr lang="en-US" sz="1450" dirty="0"/>
          </a:p>
        </p:txBody>
      </p:sp>
      <p:sp>
        <p:nvSpPr>
          <p:cNvPr id="31" name="Shape 27"/>
          <p:cNvSpPr/>
          <p:nvPr/>
        </p:nvSpPr>
        <p:spPr>
          <a:xfrm>
            <a:off x="5897880" y="3799332"/>
            <a:ext cx="82296" cy="82296"/>
          </a:xfrm>
          <a:prstGeom prst="ellipse">
            <a:avLst/>
          </a:prstGeom>
          <a:solidFill>
            <a:srgbClr val="E8A33D">
              <a:alpha val="85000"/>
            </a:srgbClr>
          </a:solidFill>
        </p:spPr>
      </p:sp>
      <p:sp>
        <p:nvSpPr>
          <p:cNvPr id="32" name="Shape 28"/>
          <p:cNvSpPr/>
          <p:nvPr/>
        </p:nvSpPr>
        <p:spPr>
          <a:xfrm>
            <a:off x="6190488" y="3781044"/>
            <a:ext cx="118872" cy="118872"/>
          </a:xfrm>
          <a:prstGeom prst="ellipse">
            <a:avLst/>
          </a:prstGeom>
          <a:solidFill>
            <a:srgbClr val="E8A33D">
              <a:alpha val="70000"/>
            </a:srgbClr>
          </a:solidFill>
        </p:spPr>
      </p:sp>
      <p:sp>
        <p:nvSpPr>
          <p:cNvPr id="33" name="Shape 29"/>
          <p:cNvSpPr/>
          <p:nvPr/>
        </p:nvSpPr>
        <p:spPr>
          <a:xfrm>
            <a:off x="6483096" y="3758184"/>
            <a:ext cx="164592" cy="164592"/>
          </a:xfrm>
          <a:prstGeom prst="ellipse">
            <a:avLst/>
          </a:prstGeom>
          <a:solidFill>
            <a:srgbClr val="E8A33D">
              <a:alpha val="55000"/>
            </a:srgbClr>
          </a:solidFill>
        </p:spPr>
      </p:sp>
      <p:sp>
        <p:nvSpPr>
          <p:cNvPr id="34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ARCHITECTURE DU 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Une arborescence simple et claire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0" y="1691640"/>
            <a:ext cx="1417320" cy="640080"/>
          </a:xfrm>
          <a:prstGeom prst="roundRect">
            <a:avLst>
              <a:gd name="adj" fmla="val 12857"/>
            </a:avLst>
          </a:prstGeom>
          <a:solidFill>
            <a:srgbClr val="0E0E0E"/>
          </a:solidFill>
        </p:spPr>
      </p:sp>
      <p:sp>
        <p:nvSpPr>
          <p:cNvPr id="5" name="Text 3"/>
          <p:cNvSpPr/>
          <p:nvPr/>
        </p:nvSpPr>
        <p:spPr>
          <a:xfrm>
            <a:off x="5394960" y="169164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Accueil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4960" y="23774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03620" y="2651760"/>
            <a:ext cx="0" cy="411480"/>
          </a:xfrm>
          <a:prstGeom prst="line">
            <a:avLst/>
          </a:prstGeom>
          <a:noFill/>
          <a:ln w="25400">
            <a:solidFill>
              <a:srgbClr val="C4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71316" y="3063240"/>
            <a:ext cx="5486400" cy="0"/>
          </a:xfrm>
          <a:prstGeom prst="line">
            <a:avLst/>
          </a:prstGeom>
          <a:noFill/>
          <a:ln w="25400">
            <a:solidFill>
              <a:srgbClr val="C4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1316" y="3063240"/>
            <a:ext cx="0" cy="365760"/>
          </a:xfrm>
          <a:prstGeom prst="line">
            <a:avLst/>
          </a:prstGeom>
          <a:noFill/>
          <a:ln w="25400">
            <a:solidFill>
              <a:srgbClr val="C4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9716" y="34290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EDE3CE"/>
          </a:solidFill>
        </p:spPr>
      </p:sp>
      <p:sp>
        <p:nvSpPr>
          <p:cNvPr id="11" name="Text 9"/>
          <p:cNvSpPr/>
          <p:nvPr/>
        </p:nvSpPr>
        <p:spPr>
          <a:xfrm>
            <a:off x="2436876" y="3520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Programme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36876" y="390448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programme.html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14516" y="3063240"/>
            <a:ext cx="0" cy="365760"/>
          </a:xfrm>
          <a:prstGeom prst="line">
            <a:avLst/>
          </a:prstGeom>
          <a:noFill/>
          <a:ln w="25400">
            <a:solidFill>
              <a:srgbClr val="C4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2916" y="34290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EDE3CE"/>
          </a:solidFill>
        </p:spPr>
      </p:sp>
      <p:sp>
        <p:nvSpPr>
          <p:cNvPr id="15" name="Text 13"/>
          <p:cNvSpPr/>
          <p:nvPr/>
        </p:nvSpPr>
        <p:spPr>
          <a:xfrm>
            <a:off x="5180076" y="3520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Intervenants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80076" y="390448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intervenants.html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57716" y="3063240"/>
            <a:ext cx="0" cy="365760"/>
          </a:xfrm>
          <a:prstGeom prst="line">
            <a:avLst/>
          </a:prstGeom>
          <a:noFill/>
          <a:ln w="25400">
            <a:solidFill>
              <a:srgbClr val="C4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6116" y="34290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EDE3CE"/>
          </a:solidFill>
        </p:spPr>
      </p:sp>
      <p:sp>
        <p:nvSpPr>
          <p:cNvPr id="19" name="Text 17"/>
          <p:cNvSpPr/>
          <p:nvPr/>
        </p:nvSpPr>
        <p:spPr>
          <a:xfrm>
            <a:off x="7923276" y="3520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23276" y="390448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pages réalisées : index.html • programme.html • intervenants.html • contact.html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ARCHITECTURE DU 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Aperçu des quatre pages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DE3CE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CDA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8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d’écran à insérer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Accueil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31546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du sommet et appel à l’action principal.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DE3CE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2024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CDA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8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d’écran à insérer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Programme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31546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Détail des sessions organisées par onglets.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DE3CE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6908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CDA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8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d’écran à insérer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3035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Intervenants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530352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Grille filtrable des profils des intervenants.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DE3CE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06908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CDA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400800" y="406908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8F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d’écran à insérer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3035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83880" y="530352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Formulaire d’inscription et informations pratiques.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  <p:pic>
        <p:nvPicPr>
          <p:cNvPr id="26" name="Image 25" descr="Capture d'écran 2026-07-28 2306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765" y="3996055"/>
            <a:ext cx="4934585" cy="1311275"/>
          </a:xfrm>
          <a:prstGeom prst="rect">
            <a:avLst/>
          </a:prstGeom>
        </p:spPr>
      </p:pic>
      <p:pic>
        <p:nvPicPr>
          <p:cNvPr id="28" name="Image 27" descr="Capture d'écran 2026-07-28 230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917950"/>
            <a:ext cx="4982845" cy="1490980"/>
          </a:xfrm>
          <a:prstGeom prst="rect">
            <a:avLst/>
          </a:prstGeom>
        </p:spPr>
      </p:pic>
      <p:pic>
        <p:nvPicPr>
          <p:cNvPr id="29" name="Image 28" descr="Capture d'écran 2026-07-28 2305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4205"/>
            <a:ext cx="4982210" cy="1214120"/>
          </a:xfrm>
          <a:prstGeom prst="rect">
            <a:avLst/>
          </a:prstGeom>
        </p:spPr>
      </p:pic>
      <p:pic>
        <p:nvPicPr>
          <p:cNvPr id="31" name="Image 30" descr="Capture d'écran 2026-07-28 2305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94205"/>
            <a:ext cx="4982845" cy="1254760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POINTS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JavaScript : les fonctionnalités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5" name="Shape 3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6" name="Image 0" descr="assets/moo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202356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16916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9" name="Shape 6"/>
          <p:cNvSpPr/>
          <p:nvPr/>
        </p:nvSpPr>
        <p:spPr>
          <a:xfrm>
            <a:off x="3630168" y="189280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10" name="Image 1" descr="assets/clo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927" y="202356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5603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Compte à rebours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16916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13" name="Shape 9"/>
          <p:cNvSpPr/>
          <p:nvPr/>
        </p:nvSpPr>
        <p:spPr>
          <a:xfrm>
            <a:off x="6510528" y="189280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14" name="Image 2" descr="assets/arrow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287" y="2023567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2240" y="25603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 en haut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189720" y="16916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17" name="Shape 12"/>
          <p:cNvSpPr/>
          <p:nvPr/>
        </p:nvSpPr>
        <p:spPr>
          <a:xfrm>
            <a:off x="9390888" y="189280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18" name="Image 3" descr="assets/men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647" y="2023567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72600" y="25603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 responsive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47472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21" name="Shape 15"/>
          <p:cNvSpPr/>
          <p:nvPr/>
        </p:nvSpPr>
        <p:spPr>
          <a:xfrm>
            <a:off x="749808" y="367588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22" name="Image 4" descr="assets/b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3806647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43434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Animation des statistiques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429000" y="347472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25" name="Shape 18"/>
          <p:cNvSpPr/>
          <p:nvPr/>
        </p:nvSpPr>
        <p:spPr>
          <a:xfrm>
            <a:off x="3630168" y="367588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26" name="Image 5" descr="assets/for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927" y="3806647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11880" y="43434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du formulaire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309360" y="347472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29" name="Shape 21"/>
          <p:cNvSpPr/>
          <p:nvPr/>
        </p:nvSpPr>
        <p:spPr>
          <a:xfrm>
            <a:off x="6510528" y="367588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30" name="Image 6" descr="assets/fil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287" y="3806647"/>
            <a:ext cx="241402" cy="2414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92240" y="43434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Filtre des intervenants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9189720" y="347472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EDE3CE"/>
          </a:solidFill>
        </p:spPr>
      </p:sp>
      <p:sp>
        <p:nvSpPr>
          <p:cNvPr id="33" name="Shape 24"/>
          <p:cNvSpPr/>
          <p:nvPr/>
        </p:nvSpPr>
        <p:spPr>
          <a:xfrm>
            <a:off x="9390888" y="3675888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34" name="Image 7" descr="assets/tab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1647" y="3806647"/>
            <a:ext cx="241402" cy="24140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372600" y="434340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Onglets du programme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Extraits de code et logique détaillés en démonstration.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POINTS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CSS avancé &amp; Bootstrap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DE3CE"/>
          </a:solidFill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6" name="Image 0" descr="assets/bootstra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Bootstrap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48006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868680" y="278892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Icons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474720"/>
            <a:ext cx="48006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868680" y="347472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Grid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4160520"/>
            <a:ext cx="48006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868680" y="4160520"/>
            <a:ext cx="480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responsive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65392" y="1965960"/>
            <a:ext cx="548640" cy="548640"/>
          </a:xfrm>
          <a:prstGeom prst="ellipse">
            <a:avLst/>
          </a:prstGeom>
          <a:solidFill>
            <a:srgbClr val="0E0E0E"/>
          </a:solidFill>
        </p:spPr>
      </p:sp>
      <p:pic>
        <p:nvPicPr>
          <p:cNvPr id="16" name="Image 1" descr="assets/c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038" y="210860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96912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CSS avancé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565392" y="288036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9" name="Text 15"/>
          <p:cNvSpPr/>
          <p:nvPr/>
        </p:nvSpPr>
        <p:spPr>
          <a:xfrm>
            <a:off x="6821424" y="2743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CSS (:root)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079992" y="288036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1" name="Text 17"/>
          <p:cNvSpPr/>
          <p:nvPr/>
        </p:nvSpPr>
        <p:spPr>
          <a:xfrm>
            <a:off x="9336024" y="2743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Flexbox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65392" y="3447288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3" name="Text 19"/>
          <p:cNvSpPr/>
          <p:nvPr/>
        </p:nvSpPr>
        <p:spPr>
          <a:xfrm>
            <a:off x="6821424" y="33101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Grid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079992" y="3447288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5" name="Text 21"/>
          <p:cNvSpPr/>
          <p:nvPr/>
        </p:nvSpPr>
        <p:spPr>
          <a:xfrm>
            <a:off x="9336024" y="33101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65392" y="4014216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7" name="Text 23"/>
          <p:cNvSpPr/>
          <p:nvPr/>
        </p:nvSpPr>
        <p:spPr>
          <a:xfrm>
            <a:off x="6821424" y="38770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Transitions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079992" y="4014216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9" name="Text 25"/>
          <p:cNvSpPr/>
          <p:nvPr/>
        </p:nvSpPr>
        <p:spPr>
          <a:xfrm>
            <a:off x="9336024" y="38770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 Queries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65392" y="4581144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31" name="Text 27"/>
          <p:cNvSpPr/>
          <p:nvPr/>
        </p:nvSpPr>
        <p:spPr>
          <a:xfrm>
            <a:off x="6821424" y="444398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sombre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852160" y="3799332"/>
            <a:ext cx="82296" cy="82296"/>
          </a:xfrm>
          <a:prstGeom prst="ellipse">
            <a:avLst/>
          </a:prstGeom>
          <a:solidFill>
            <a:srgbClr val="E8A33D">
              <a:alpha val="85000"/>
            </a:srgbClr>
          </a:solidFill>
        </p:spPr>
      </p:sp>
      <p:sp>
        <p:nvSpPr>
          <p:cNvPr id="33" name="Shape 29"/>
          <p:cNvSpPr/>
          <p:nvPr/>
        </p:nvSpPr>
        <p:spPr>
          <a:xfrm>
            <a:off x="6144768" y="3781044"/>
            <a:ext cx="118872" cy="118872"/>
          </a:xfrm>
          <a:prstGeom prst="ellipse">
            <a:avLst/>
          </a:prstGeom>
          <a:solidFill>
            <a:srgbClr val="E8A33D">
              <a:alpha val="70000"/>
            </a:srgbClr>
          </a:solidFill>
        </p:spPr>
      </p:sp>
      <p:sp>
        <p:nvSpPr>
          <p:cNvPr id="34" name="Shape 30"/>
          <p:cNvSpPr/>
          <p:nvPr/>
        </p:nvSpPr>
        <p:spPr>
          <a:xfrm>
            <a:off x="6437376" y="3758184"/>
            <a:ext cx="164592" cy="164592"/>
          </a:xfrm>
          <a:prstGeom prst="ellipse">
            <a:avLst/>
          </a:prstGeom>
          <a:solidFill>
            <a:srgbClr val="E8A33D">
              <a:alpha val="55000"/>
            </a:srgbClr>
          </a:solidFill>
        </p:spPr>
      </p:sp>
      <p:sp>
        <p:nvSpPr>
          <p:cNvPr id="35" name="Text 3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Historique des commits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0" cy="3977640"/>
          </a:xfrm>
          <a:prstGeom prst="line">
            <a:avLst/>
          </a:prstGeom>
          <a:noFill/>
          <a:ln w="25400">
            <a:solidFill>
              <a:srgbClr val="E4DA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6514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6" name="Text 4"/>
          <p:cNvSpPr/>
          <p:nvPr/>
        </p:nvSpPr>
        <p:spPr>
          <a:xfrm>
            <a:off x="1143000" y="1691640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 : création du dépôt, arborescence et structure HTML de 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4672" y="2224278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8" name="Text 6"/>
          <p:cNvSpPr/>
          <p:nvPr/>
        </p:nvSpPr>
        <p:spPr>
          <a:xfrm>
            <a:off x="1143000" y="2089404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: structure complète des 4 pages et contenu texte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2622042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0" name="Text 8"/>
          <p:cNvSpPr/>
          <p:nvPr/>
        </p:nvSpPr>
        <p:spPr>
          <a:xfrm>
            <a:off x="1143000" y="2487168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: variables et mise en page principale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" y="3019806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2" name="Text 10"/>
          <p:cNvSpPr/>
          <p:nvPr/>
        </p:nvSpPr>
        <p:spPr>
          <a:xfrm>
            <a:off x="1143000" y="2884932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: grille d’intervenants et effet hover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3417570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4" name="Text 12"/>
          <p:cNvSpPr/>
          <p:nvPr/>
        </p:nvSpPr>
        <p:spPr>
          <a:xfrm>
            <a:off x="1143000" y="3282696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: responsive design via media queries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815334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6" name="Text 14"/>
          <p:cNvSpPr/>
          <p:nvPr/>
        </p:nvSpPr>
        <p:spPr>
          <a:xfrm>
            <a:off x="1143000" y="3680460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 : dark mode avec LocalStorage et navbar dynamique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" y="4213098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8" name="Text 16"/>
          <p:cNvSpPr/>
          <p:nvPr/>
        </p:nvSpPr>
        <p:spPr>
          <a:xfrm>
            <a:off x="1143000" y="4078224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 : filtrage dynamique, animations et compteurs animés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" y="4610862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0" name="Text 18"/>
          <p:cNvSpPr/>
          <p:nvPr/>
        </p:nvSpPr>
        <p:spPr>
          <a:xfrm>
            <a:off x="1143000" y="4475988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 : validation du formulaire et bouton retour en haut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5008626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2" name="Text 20"/>
          <p:cNvSpPr/>
          <p:nvPr/>
        </p:nvSpPr>
        <p:spPr>
          <a:xfrm>
            <a:off x="1143000" y="4873752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Vérification : commentaires, HTML et fonctionnalités validés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" y="5406390"/>
            <a:ext cx="128016" cy="128016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4" name="Text 22"/>
          <p:cNvSpPr/>
          <p:nvPr/>
        </p:nvSpPr>
        <p:spPr>
          <a:xfrm>
            <a:off x="1143000" y="5271516"/>
            <a:ext cx="10332720" cy="397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Finalisation : ajout de la présentation PPTX</a:t>
            </a:r>
            <a:r>
              <a:rPr lang="fr-FR" alt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et du readme</a:t>
            </a:r>
            <a:endParaRPr lang="fr-FR" altLang="en-US" sz="1150" dirty="0">
              <a:solidFill>
                <a:srgbClr val="0E0E0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EDE3CE"/>
          </a:solidFill>
        </p:spPr>
      </p:sp>
      <p:sp>
        <p:nvSpPr>
          <p:cNvPr id="26" name="Shape 24"/>
          <p:cNvSpPr/>
          <p:nvPr/>
        </p:nvSpPr>
        <p:spPr>
          <a:xfrm>
            <a:off x="658368" y="5870448"/>
            <a:ext cx="438912" cy="43891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7" name="Image 0" descr="assets/github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5984565"/>
            <a:ext cx="210678" cy="21067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88720" y="580644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github.com/mzoungrana/africonnect-summit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45352" y="580644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EDE3CE"/>
          </a:solidFill>
        </p:spPr>
      </p:sp>
      <p:sp>
        <p:nvSpPr>
          <p:cNvPr id="30" name="Shape 27"/>
          <p:cNvSpPr/>
          <p:nvPr/>
        </p:nvSpPr>
        <p:spPr>
          <a:xfrm>
            <a:off x="6355080" y="5870448"/>
            <a:ext cx="438912" cy="43891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1" descr="assets/lin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197" y="5984565"/>
            <a:ext cx="210678" cy="21067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885432" y="580644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mzoungrana.github.io/africonnect-summit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DIFFICULTÉS RENCONTRÉES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Problèmes rencontrés et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9312" cy="4343400"/>
          </a:xfrm>
          <a:prstGeom prst="roundRect">
            <a:avLst>
              <a:gd name="adj" fmla="val 2513"/>
            </a:avLst>
          </a:prstGeom>
          <a:solidFill>
            <a:srgbClr val="EDE3CE"/>
          </a:solidFill>
        </p:spPr>
      </p:sp>
      <p:sp>
        <p:nvSpPr>
          <p:cNvPr id="5" name="Shape 3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6" name="Image 0" descr="assets/warn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2898648"/>
            <a:ext cx="312724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Dark Mode ne fonctionnait pas sur toutes les pages.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" y="4434840"/>
            <a:ext cx="3127248" cy="0"/>
          </a:xfrm>
          <a:prstGeom prst="line">
            <a:avLst/>
          </a:prstGeom>
          <a:noFill/>
          <a:ln w="12700">
            <a:solidFill>
              <a:srgbClr val="D8CDA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46177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assets/chec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47365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690872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4672" y="512064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Utilisation de LocalStorage pour conserver le thème.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70832" y="1691640"/>
            <a:ext cx="3639312" cy="4343400"/>
          </a:xfrm>
          <a:prstGeom prst="roundRect">
            <a:avLst>
              <a:gd name="adj" fmla="val 2513"/>
            </a:avLst>
          </a:prstGeom>
          <a:solidFill>
            <a:srgbClr val="EDE3CE"/>
          </a:solidFill>
        </p:spPr>
      </p:sp>
      <p:sp>
        <p:nvSpPr>
          <p:cNvPr id="15" name="Shape 11"/>
          <p:cNvSpPr/>
          <p:nvPr/>
        </p:nvSpPr>
        <p:spPr>
          <a:xfrm>
            <a:off x="4626864" y="1965960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16" name="Image 2" descr="assets/warn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7623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6864" y="260604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 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26864" y="2898648"/>
            <a:ext cx="312724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menu responsive ne s’ouvrait pas correctement.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26864" y="4434840"/>
            <a:ext cx="3127248" cy="0"/>
          </a:xfrm>
          <a:prstGeom prst="line">
            <a:avLst/>
          </a:prstGeom>
          <a:noFill/>
          <a:ln w="12700">
            <a:solidFill>
              <a:srgbClr val="D8CDA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26864" y="46177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assets/chec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47365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4690872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626864" y="512064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Ajout d’un menu hamburger contrôlé en JavaScript.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193024" y="1691640"/>
            <a:ext cx="3639312" cy="4343400"/>
          </a:xfrm>
          <a:prstGeom prst="roundRect">
            <a:avLst>
              <a:gd name="adj" fmla="val 2513"/>
            </a:avLst>
          </a:prstGeom>
          <a:solidFill>
            <a:srgbClr val="EDE3CE"/>
          </a:solidFill>
        </p:spPr>
      </p:sp>
      <p:sp>
        <p:nvSpPr>
          <p:cNvPr id="25" name="Shape 19"/>
          <p:cNvSpPr/>
          <p:nvPr/>
        </p:nvSpPr>
        <p:spPr>
          <a:xfrm>
            <a:off x="8449056" y="1965960"/>
            <a:ext cx="502920" cy="50292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26" name="Image 4" descr="assets/warn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9815" y="20967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49056" y="260604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 3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449056" y="2898648"/>
            <a:ext cx="312724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validateurs HTML signalaient plusieurs erreurs.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449056" y="4434840"/>
            <a:ext cx="3127248" cy="0"/>
          </a:xfrm>
          <a:prstGeom prst="line">
            <a:avLst/>
          </a:prstGeom>
          <a:noFill/>
          <a:ln w="12700">
            <a:solidFill>
              <a:srgbClr val="D8CDA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49056" y="4617720"/>
            <a:ext cx="457200" cy="4572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1" name="Image 5" descr="assets/chec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473659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4690872"/>
            <a:ext cx="25420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449056" y="512064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Correction des balises HTML et amélioration de l’accessibilité.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RESSOURCES UTILISÉES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Documentation consultée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DE3CE"/>
          </a:solidFill>
        </p:spPr>
      </p:sp>
      <p:sp>
        <p:nvSpPr>
          <p:cNvPr id="5" name="Shape 3"/>
          <p:cNvSpPr/>
          <p:nvPr/>
        </p:nvSpPr>
        <p:spPr>
          <a:xfrm>
            <a:off x="731520" y="1837944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assets/boo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197108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MDN Web Docs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Référence technique HTML, CSS et JavaScript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770632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assets/boo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2903769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157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W3Schools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054096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Tutoriels et exemples pratiques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557016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DE3CE"/>
          </a:solidFill>
        </p:spPr>
      </p:sp>
      <p:sp>
        <p:nvSpPr>
          <p:cNvPr id="15" name="Shape 11"/>
          <p:cNvSpPr/>
          <p:nvPr/>
        </p:nvSpPr>
        <p:spPr>
          <a:xfrm>
            <a:off x="731520" y="3703320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assets/boo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383645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4845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Bootstrap Documentation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98678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Composants et grille responsive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DAC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636008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assets/boo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476914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5811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491947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Polices Poppins, Roboto Slab, Playfair Display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422392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EDE3CE"/>
          </a:solidFill>
        </p:spPr>
      </p:sp>
      <p:sp>
        <p:nvSpPr>
          <p:cNvPr id="25" name="Shape 19"/>
          <p:cNvSpPr/>
          <p:nvPr/>
        </p:nvSpPr>
        <p:spPr>
          <a:xfrm>
            <a:off x="731520" y="5568696"/>
            <a:ext cx="512064" cy="512064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6" name="Image 4" descr="assets/boo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7" y="5701833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5138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Bootstrap Icons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63040" y="58521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Icônes utilisées dans toute l’interface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med"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—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 direct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6" name="Image 0" descr="assets/chec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211153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011680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Accueil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9" name="Image 1" descr="assets/chec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2678460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5786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45536"/>
            <a:ext cx="384048" cy="384048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12" name="Image 2" descr="assets/chec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3245388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145536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Intervenants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712464"/>
            <a:ext cx="384048" cy="384048"/>
          </a:xfrm>
          <a:prstGeom prst="ellipse">
            <a:avLst/>
          </a:prstGeom>
          <a:solidFill>
            <a:srgbClr val="EDE3CE"/>
          </a:solidFill>
        </p:spPr>
      </p:sp>
      <p:pic>
        <p:nvPicPr>
          <p:cNvPr id="15" name="Image 3" descr="assets/check_or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3812316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71246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263640" y="1600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FONCTIONNALITÉS DÉMONTRÉES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63640" y="210312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19" name="Text 13"/>
          <p:cNvSpPr/>
          <p:nvPr/>
        </p:nvSpPr>
        <p:spPr>
          <a:xfrm>
            <a:off x="6519672" y="19659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 responsive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098280" y="210312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1" name="Text 15"/>
          <p:cNvSpPr/>
          <p:nvPr/>
        </p:nvSpPr>
        <p:spPr>
          <a:xfrm>
            <a:off x="9354312" y="19659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Mode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263640" y="265176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3" name="Text 17"/>
          <p:cNvSpPr/>
          <p:nvPr/>
        </p:nvSpPr>
        <p:spPr>
          <a:xfrm>
            <a:off x="6519672" y="25146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Filtre des intervenants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098280" y="265176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5" name="Text 19"/>
          <p:cNvSpPr/>
          <p:nvPr/>
        </p:nvSpPr>
        <p:spPr>
          <a:xfrm>
            <a:off x="9354312" y="25146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Compte à rebours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263640" y="320040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7" name="Text 21"/>
          <p:cNvSpPr/>
          <p:nvPr/>
        </p:nvSpPr>
        <p:spPr>
          <a:xfrm>
            <a:off x="6519672" y="30632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FAQ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9098280" y="320040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29" name="Text 23"/>
          <p:cNvSpPr/>
          <p:nvPr/>
        </p:nvSpPr>
        <p:spPr>
          <a:xfrm>
            <a:off x="9354312" y="306324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du formulaire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263640" y="3749040"/>
            <a:ext cx="91440" cy="91440"/>
          </a:xfrm>
          <a:prstGeom prst="ellipse">
            <a:avLst/>
          </a:prstGeom>
          <a:solidFill>
            <a:srgbClr val="C4432B"/>
          </a:solidFill>
        </p:spPr>
      </p:sp>
      <p:sp>
        <p:nvSpPr>
          <p:cNvPr id="31" name="Text 25"/>
          <p:cNvSpPr/>
          <p:nvPr/>
        </p:nvSpPr>
        <p:spPr>
          <a:xfrm>
            <a:off x="6519672" y="36118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 en haut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440680" y="5394960"/>
            <a:ext cx="1051560" cy="1051560"/>
          </a:xfrm>
          <a:prstGeom prst="ellipse">
            <a:avLst/>
          </a:prstGeom>
          <a:solidFill>
            <a:srgbClr val="C4432B"/>
          </a:solidFill>
        </p:spPr>
      </p:sp>
      <p:pic>
        <p:nvPicPr>
          <p:cNvPr id="33" name="Image 4" descr="assets/pla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086" y="5668366"/>
            <a:ext cx="504749" cy="504749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480560" y="5902452"/>
            <a:ext cx="82296" cy="82296"/>
          </a:xfrm>
          <a:prstGeom prst="ellipse">
            <a:avLst/>
          </a:prstGeom>
          <a:solidFill>
            <a:srgbClr val="E8A33D">
              <a:alpha val="85000"/>
            </a:srgbClr>
          </a:solidFill>
        </p:spPr>
      </p:sp>
      <p:sp>
        <p:nvSpPr>
          <p:cNvPr id="35" name="Shape 28"/>
          <p:cNvSpPr/>
          <p:nvPr/>
        </p:nvSpPr>
        <p:spPr>
          <a:xfrm>
            <a:off x="4187952" y="5884164"/>
            <a:ext cx="118872" cy="118872"/>
          </a:xfrm>
          <a:prstGeom prst="ellipse">
            <a:avLst/>
          </a:prstGeom>
          <a:solidFill>
            <a:srgbClr val="E8A33D">
              <a:alpha val="70000"/>
            </a:srgbClr>
          </a:solidFill>
        </p:spPr>
      </p:sp>
      <p:sp>
        <p:nvSpPr>
          <p:cNvPr id="36" name="Shape 29"/>
          <p:cNvSpPr/>
          <p:nvPr/>
        </p:nvSpPr>
        <p:spPr>
          <a:xfrm>
            <a:off x="3895344" y="5861304"/>
            <a:ext cx="164592" cy="164592"/>
          </a:xfrm>
          <a:prstGeom prst="ellipse">
            <a:avLst/>
          </a:prstGeom>
          <a:solidFill>
            <a:srgbClr val="E8A33D">
              <a:alpha val="55000"/>
            </a:srgbClr>
          </a:solidFill>
        </p:spPr>
      </p:sp>
      <p:sp>
        <p:nvSpPr>
          <p:cNvPr id="37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EDE3CE">
              <a:alpha val="6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—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 que ce projet m’a apporté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DE3CE"/>
          </a:solidFill>
        </p:spPr>
      </p:sp>
      <p:sp>
        <p:nvSpPr>
          <p:cNvPr id="6" name="Shape 4"/>
          <p:cNvSpPr/>
          <p:nvPr/>
        </p:nvSpPr>
        <p:spPr>
          <a:xfrm>
            <a:off x="749808" y="2103120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assets/html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2814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7373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DE3CE"/>
          </a:solidFill>
        </p:spPr>
      </p:sp>
      <p:sp>
        <p:nvSpPr>
          <p:cNvPr id="10" name="Shape 7"/>
          <p:cNvSpPr/>
          <p:nvPr/>
        </p:nvSpPr>
        <p:spPr>
          <a:xfrm>
            <a:off x="4453128" y="2103120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assets/cs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281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373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CSS3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7955280" y="17373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DE3CE"/>
          </a:solidFill>
        </p:spPr>
      </p:sp>
      <p:sp>
        <p:nvSpPr>
          <p:cNvPr id="14" name="Shape 10"/>
          <p:cNvSpPr/>
          <p:nvPr/>
        </p:nvSpPr>
        <p:spPr>
          <a:xfrm>
            <a:off x="8156448" y="2103120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assets/js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56" y="22814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7373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DE3CE"/>
          </a:solidFill>
        </p:spPr>
      </p:sp>
      <p:sp>
        <p:nvSpPr>
          <p:cNvPr id="18" name="Shape 13"/>
          <p:cNvSpPr/>
          <p:nvPr/>
        </p:nvSpPr>
        <p:spPr>
          <a:xfrm>
            <a:off x="749808" y="3703320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9" name="Image 3" descr="assets/compass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88162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33375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Design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251960" y="33375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DE3CE"/>
          </a:solidFill>
        </p:spPr>
      </p:sp>
      <p:sp>
        <p:nvSpPr>
          <p:cNvPr id="22" name="Shape 16"/>
          <p:cNvSpPr/>
          <p:nvPr/>
        </p:nvSpPr>
        <p:spPr>
          <a:xfrm>
            <a:off x="4453128" y="3703320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3" name="Image 4" descr="assets/bootstrap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436" y="388162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33375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7955280" y="33375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DE3CE"/>
          </a:solidFill>
        </p:spPr>
      </p:sp>
      <p:sp>
        <p:nvSpPr>
          <p:cNvPr id="26" name="Shape 19"/>
          <p:cNvSpPr/>
          <p:nvPr/>
        </p:nvSpPr>
        <p:spPr>
          <a:xfrm>
            <a:off x="8156448" y="3703320"/>
            <a:ext cx="685800" cy="68580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7" name="Image 5" descr="assets/git_b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56" y="388162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06840" y="3337560"/>
            <a:ext cx="2286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548640" y="5120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J’ai également appris à organiser un projet web complet, de la maquette à la mise en ligne.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slow"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44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PERSPECTIVES D’AMÉLIORATION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0E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Et pour la suite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5" name="Shape 3"/>
          <p:cNvSpPr/>
          <p:nvPr/>
        </p:nvSpPr>
        <p:spPr>
          <a:xfrm>
            <a:off x="749808" y="209397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assets/user_bl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09" y="22413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Connexion utilisateur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70248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9" name="Shape 6"/>
          <p:cNvSpPr/>
          <p:nvPr/>
        </p:nvSpPr>
        <p:spPr>
          <a:xfrm>
            <a:off x="4471416" y="209397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assets/d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817" y="224137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4648" y="169164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de données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1856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13" name="Shape 9"/>
          <p:cNvSpPr/>
          <p:nvPr/>
        </p:nvSpPr>
        <p:spPr>
          <a:xfrm>
            <a:off x="8193024" y="2093976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4" name="Image 2" descr="assets/lock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425" y="224137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06256" y="1691640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Espace administrateur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2644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17" name="Shape 12"/>
          <p:cNvSpPr/>
          <p:nvPr/>
        </p:nvSpPr>
        <p:spPr>
          <a:xfrm>
            <a:off x="749808" y="3666744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8" name="Image 3" descr="assets/calendar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3814145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264408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Réservation en ligne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270248" y="32644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21" name="Shape 15"/>
          <p:cNvSpPr/>
          <p:nvPr/>
        </p:nvSpPr>
        <p:spPr>
          <a:xfrm>
            <a:off x="4471416" y="3666744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2" name="Image 4" descr="assets/cart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817" y="3814145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84648" y="3264408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sécurisé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91856" y="32644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25" name="Shape 18"/>
          <p:cNvSpPr/>
          <p:nvPr/>
        </p:nvSpPr>
        <p:spPr>
          <a:xfrm>
            <a:off x="8193024" y="3666744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6" name="Image 5" descr="assets/cloud_b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425" y="3814145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06256" y="3264408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météo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4837176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29" name="Shape 21"/>
          <p:cNvSpPr/>
          <p:nvPr/>
        </p:nvSpPr>
        <p:spPr>
          <a:xfrm>
            <a:off x="749808" y="5239512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0" name="Image 6" descr="assets/mapPin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5386913"/>
            <a:ext cx="272125" cy="2721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4837176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Google Maps dynamique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270248" y="4837176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3CE"/>
          </a:solidFill>
        </p:spPr>
      </p:sp>
      <p:sp>
        <p:nvSpPr>
          <p:cNvPr id="33" name="Shape 24"/>
          <p:cNvSpPr/>
          <p:nvPr/>
        </p:nvSpPr>
        <p:spPr>
          <a:xfrm>
            <a:off x="4471416" y="5239512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4" name="Image 7" descr="assets/mail_bl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8817" y="5386913"/>
            <a:ext cx="272125" cy="27212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84648" y="4837176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par email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7991856" y="4837176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C4432B"/>
          </a:solidFill>
        </p:spPr>
      </p:sp>
      <p:sp>
        <p:nvSpPr>
          <p:cNvPr id="37" name="Shape 27"/>
          <p:cNvSpPr/>
          <p:nvPr/>
        </p:nvSpPr>
        <p:spPr>
          <a:xfrm>
            <a:off x="8193024" y="5239512"/>
            <a:ext cx="566928" cy="56692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8" name="Image 8" descr="assets/arrowRight_ora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425" y="5386913"/>
            <a:ext cx="272125" cy="27212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06256" y="4837176"/>
            <a:ext cx="2423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PWA (Progressive Web App)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AfriConnect Summit 2026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1274552" y="653796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1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wheel spokes="4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4645</Words>
  <Application>WPS Presentation</Application>
  <PresentationFormat>On-screen Show (16:9)</PresentationFormat>
  <Paragraphs>440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PC</cp:lastModifiedBy>
  <cp:revision>4</cp:revision>
  <dcterms:created xsi:type="dcterms:W3CDTF">2026-07-27T20:58:00Z</dcterms:created>
  <dcterms:modified xsi:type="dcterms:W3CDTF">2026-07-28T23:12:01Z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1036-12.1.0.27458</vt:lpwstr>
  </property>
  <property fmtid="{D5CDD505-2E9C-101B-9397-08002B2CF9AE}" pid="3" name="ICV">
    <vt:lpwstr>27C181226D3B4E55B9D7319FF6F0009A_13</vt:lpwstr>
  </property>
</Properties>
</file>